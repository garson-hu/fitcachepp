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GB/s</c:v>
                </c:pt>
              </c:strCache>
            </c:strRef>
          </c:tx>
          <c:dPt>
            <c:idx val="0"/>
            <c:spPr>
              <a:solidFill>
                <a:srgbClr val="B0B6BD"/>
              </a:solidFill>
            </c:spPr>
          </c:dPt>
          <c:dPt>
            <c:idx val="1"/>
            <c:spPr>
              <a:solidFill>
                <a:srgbClr val="B0B6BD"/>
              </a:solidFill>
            </c:spPr>
          </c:dPt>
          <c:dPt>
            <c:idx val="2"/>
            <c:spPr>
              <a:solidFill>
                <a:srgbClr val="2563EB"/>
              </a:solidFill>
            </c:spPr>
          </c:dPt>
          <c:cat>
            <c:strRef>
              <c:f>Sheet1!$A$2:$A$4</c:f>
              <c:strCache>
                <c:ptCount val="3"/>
                <c:pt idx="0">
                  <c:v>old: fetch over RPC</c:v>
                </c:pt>
                <c:pt idx="1">
                  <c:v>Lustre PFS (baseline)</c:v>
                </c:pt>
                <c:pt idx="2">
                  <c:v>direct local mmap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</c:v>
                </c:pt>
                <c:pt idx="1">
                  <c:v>2.0</c:v>
                </c:pt>
                <c:pt idx="2">
                  <c:v>2.3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6"/>
          <c:min val="0.0"/>
        </c:scaling>
        <c:delete val="0"/>
        <c:axPos val="b"/>
        <c:majorGridlines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cross-node misses/node</c:v>
                </c:pt>
              </c:strCache>
            </c:strRef>
          </c:tx>
          <c:dPt>
            <c:idx val="0"/>
            <c:spPr>
              <a:solidFill>
                <a:srgbClr val="DC2226"/>
              </a:solidFill>
            </c:spPr>
          </c:dPt>
          <c:dPt>
            <c:idx val="1"/>
            <c:spPr>
              <a:solidFill>
                <a:srgbClr val="16A34A"/>
              </a:solidFill>
            </c:spPr>
          </c:dPt>
          <c:cat>
            <c:strRef>
              <c:f>Sheet1!$A$2:$A$3</c:f>
              <c:strCache>
                <c:ptCount val="2"/>
                <c:pt idx="0">
                  <c:v>hash</c:v>
                </c:pt>
                <c:pt idx="1">
                  <c:v>node-local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</c:v>
                </c:pt>
                <c:pt idx="1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4.0"/>
          <c:min val="0.0"/>
        </c:scaling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copies stored</c:v>
                </c:pt>
              </c:strCache>
            </c:strRef>
          </c:tx>
          <c:dPt>
            <c:idx val="0"/>
            <c:spPr>
              <a:solidFill>
                <a:srgbClr val="D97706"/>
              </a:solidFill>
            </c:spPr>
          </c:dPt>
          <c:dPt>
            <c:idx val="1"/>
            <c:spPr>
              <a:solidFill>
                <a:srgbClr val="16A34A"/>
              </a:solidFill>
            </c:spPr>
          </c:dPt>
          <c:cat>
            <c:strRef>
              <c:f>Sheet1!$A$2:$A$3</c:f>
              <c:strCache>
                <c:ptCount val="2"/>
                <c:pt idx="0">
                  <c:v>shared</c:v>
                </c:pt>
                <c:pt idx="1">
                  <c:v>partitioned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2.0</c:v>
                </c:pt>
                <c:pt idx="1">
                  <c:v>1.0</c:v>
                </c:pt>
              </c:numCache>
            </c:numRef>
          </c:val>
        </c:ser>
        <c:dLbls>
          <c:numFmt formatCode="0.0&quot;×&quot;" sourceLinked="0"/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4"/>
          <c:min val="0.0"/>
        </c:scaling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restore (s)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Sheet1!$A$2:$A$4</c:f>
              <c:strCache>
                <c:ptCount val="3"/>
                <c:pt idx="0">
                  <c:v>32 objects</c:v>
                </c:pt>
                <c:pt idx="1">
                  <c:v>256 objects</c:v>
                </c:pt>
                <c:pt idx="2">
                  <c:v>996 objects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  <c:smooth val="0"/>
        </c:ser>
        <c:dLbls>
          <c:numFmt formatCode="0&quot; s&quot;" sourceLinked="0"/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8.0"/>
          <c:min val="0.0"/>
        </c:scaling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warm-hit speedup</c:v>
                </c:pt>
              </c:strCache>
            </c:strRef>
          </c:tx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16A34A"/>
              </a:solidFill>
            </c:spPr>
          </c:dPt>
          <c:cat>
            <c:strRef>
              <c:f>Sheet1!$A$2:$A$3</c:f>
              <c:strCache>
                <c:ptCount val="2"/>
                <c:pt idx="0">
                  <c:v>Megatron (LLM)</c:v>
                </c:pt>
                <c:pt idx="1">
                  <c:v>DINOv2 (vision)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1.6</c:v>
                </c:pt>
                <c:pt idx="1">
                  <c:v>1.95</c:v>
                </c:pt>
              </c:numCache>
            </c:numRef>
          </c:val>
        </c:ser>
        <c:dLbls>
          <c:numFmt formatCode="0.00&quot;×&quot;" sourceLinked="0"/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5"/>
          <c:min val="0.0"/>
        </c:scaling>
        <c:delete val="0"/>
        <c:axPos val="b"/>
        <c:majorGridlines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epoch (s)</c:v>
                </c:pt>
              </c:strCache>
            </c:strRef>
          </c:tx>
          <c:dPt>
            <c:idx val="0"/>
            <c:spPr>
              <a:solidFill>
                <a:srgbClr val="16A34A"/>
              </a:solidFill>
            </c:spPr>
          </c:dPt>
          <c:dPt>
            <c:idx val="1"/>
            <c:spPr>
              <a:solidFill>
                <a:srgbClr val="2563EB"/>
              </a:solidFill>
            </c:spPr>
          </c:dPt>
          <c:dPt>
            <c:idx val="2"/>
            <c:spPr>
              <a:solidFill>
                <a:srgbClr val="B0B6BD"/>
              </a:solidFill>
            </c:spPr>
          </c:dPt>
          <c:cat>
            <c:strRef>
              <c:f>Sheet1!$A$2:$A$4</c:f>
              <c:strCache>
                <c:ptCount val="3"/>
                <c:pt idx="0">
                  <c:v>page-cache (best)</c:v>
                </c:pt>
                <c:pt idx="1">
                  <c:v>NVMe-bound warm</c:v>
                </c:pt>
                <c:pt idx="2">
                  <c:v>cold Lustre native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82.7</c:v>
                </c:pt>
                <c:pt idx="2">
                  <c:v>2195</c:v>
                </c:pt>
              </c:numCache>
            </c:numRef>
          </c:val>
        </c:ser>
        <c:dLbls>
          <c:numFmt formatCode="0&quot; s&quot;" sourceLinked="0"/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600.0"/>
          <c:min val="0.0"/>
        </c:scaling>
        <c:delete val="0"/>
        <c:axPos val="b"/>
        <c:majorGridlines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FitCachePP warm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Sheet1!$A$2:$A$4</c:f>
              <c:strCache>
                <c:ptCount val="3"/>
                <c:pt idx="0">
                  <c:v>32 nodes</c:v>
                </c:pt>
                <c:pt idx="1">
                  <c:v>64 nodes</c:v>
                </c:pt>
                <c:pt idx="2">
                  <c:v>128 nodes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176</c:v>
                </c:pt>
                <c:pt idx="1">
                  <c:v>176</c:v>
                </c:pt>
                <c:pt idx="2">
                  <c:v>176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Native cold (Lustre)</c:v>
                </c:pt>
              </c:strCache>
            </c:strRef>
          </c:tx>
          <c:spPr>
            <a:solidFill>
              <a:srgbClr val="B0B6BD"/>
            </a:solidFill>
          </c:spPr>
          <c:cat>
            <c:strRef>
              <c:f>Sheet1!$A$2:$A$4</c:f>
              <c:strCache>
                <c:ptCount val="3"/>
                <c:pt idx="0">
                  <c:v>32 nodes</c:v>
                </c:pt>
                <c:pt idx="1">
                  <c:v>64 nodes</c:v>
                </c:pt>
                <c:pt idx="2">
                  <c:v>128 nodes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2568</c:v>
                </c:pt>
                <c:pt idx="1">
                  <c:v>944</c:v>
                </c:pt>
                <c:pt idx="2">
                  <c:v>1066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700.0"/>
          <c:min val="0.0"/>
        </c:scaling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Calibri"/>
              </a:rPr>
              <a:t>TPDS EXTENSION · ADVISOR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4028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1B1F24"/>
                </a:solidFill>
                <a:latin typeface="Calibri"/>
              </a:rPr>
              <a:t>FitCachePP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5F6368"/>
                </a:solidFill>
                <a:latin typeface="Calibri"/>
              </a:rPr>
              <a:t>Transparent local-storage caching for memory-mapped data loading on Frontier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4114800"/>
            <a:ext cx="7772400" cy="118872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38100" rIns="38100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  <a:r>
              <a:rPr sz="1400" b="0">
                <a:solidFill>
                  <a:srgbClr val="1B1F24"/>
                </a:solidFill>
                <a:latin typeface="Calibri"/>
              </a:rPr>
              <a:t>Training jobs that read data with mmap (LLM shards, GNN features, vision tars) get data served </a:t>
            </a:r>
            <a:r>
              <a:rPr sz="1400" b="1">
                <a:solidFill>
                  <a:srgbClr val="1B1F24"/>
                </a:solidFill>
                <a:latin typeface="Calibri"/>
              </a:rPr>
              <a:t>transparently from a fast node-local cache</a:t>
            </a:r>
            <a:r>
              <a:rPr sz="1400" b="0">
                <a:solidFill>
                  <a:srgbClr val="1B1F24"/>
                </a:solidFill>
                <a:latin typeface="Calibri"/>
              </a:rPr>
              <a:t> — with no application change. What the system does, then how much it helps (measured, checksum-verified).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B1F24"/>
                </a:solidFill>
                <a:latin typeface="Calibri"/>
              </a:rPr>
              <a:t>mmap-based loaders bypass the 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Calibri"/>
              </a:rPr>
              <a:t>Modern loaders read by memory-mapping a file and page-faulting — they never call read(), so they slip past a read()/pread() cache straight to Lustre.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2377440" cy="7315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38100" rIns="38100"/>
          <a:lstStyle/>
          <a:p>
            <a:pPr algn="ctr"/>
            <a:r>
              <a:rPr sz="1200" b="0">
                <a:solidFill>
                  <a:srgbClr val="1B1F24"/>
                </a:solidFill>
                <a:latin typeface="Calibri"/>
              </a:rPr>
              <a:t>app: read() / pread()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54680" y="2697480"/>
            <a:ext cx="640080" cy="219456"/>
          </a:xfrm>
          <a:prstGeom prst="rightArrow">
            <a:avLst/>
          </a:prstGeom>
          <a:solidFill>
            <a:srgbClr val="B0B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31920" y="2468880"/>
            <a:ext cx="2194560" cy="7315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38100" rIns="38100"/>
          <a:lstStyle/>
          <a:p>
            <a:pPr algn="ctr"/>
            <a:r>
              <a:rPr sz="1200" b="0">
                <a:solidFill>
                  <a:srgbClr val="1B1F24"/>
                </a:solidFill>
                <a:latin typeface="Calibri"/>
              </a:rPr>
              <a:t>FitCachePP hook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263640" y="2697480"/>
            <a:ext cx="640080" cy="219456"/>
          </a:xfrm>
          <a:prstGeom prst="right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0" y="2468880"/>
            <a:ext cx="3108960" cy="7315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38100" rIns="38100"/>
          <a:lstStyle/>
          <a:p>
            <a:pPr algn="ctr"/>
            <a:r>
              <a:rPr sz="1300" b="1">
                <a:solidFill>
                  <a:srgbClr val="15803D"/>
                </a:solidFill>
                <a:latin typeface="Calibri"/>
              </a:rPr>
              <a:t>served from local cache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57600"/>
            <a:ext cx="2377440" cy="7315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38100" rIns="38100"/>
          <a:lstStyle/>
          <a:p>
            <a:pPr algn="ctr"/>
            <a:r>
              <a:rPr sz="1200" b="0">
                <a:solidFill>
                  <a:srgbClr val="1B1F24"/>
                </a:solidFill>
                <a:latin typeface="Calibri"/>
              </a:rPr>
              <a:t>app: mmap() page-fault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54680" y="3886200"/>
            <a:ext cx="3108960" cy="219456"/>
          </a:xfrm>
          <a:prstGeom prst="rightArrow">
            <a:avLst/>
          </a:prstGeom>
          <a:solidFill>
            <a:srgbClr val="D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361188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DC2226"/>
                </a:solidFill>
                <a:latin typeface="Calibri"/>
              </a:rPr>
              <a:t>bypasses the cache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3657600"/>
            <a:ext cx="3108960" cy="7315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38100" rIns="38100"/>
          <a:lstStyle/>
          <a:p>
            <a:pPr algn="ctr"/>
            <a:r>
              <a:rPr sz="1300" b="1">
                <a:solidFill>
                  <a:srgbClr val="DC2226"/>
                </a:solidFill>
                <a:latin typeface="Calibri"/>
              </a:rPr>
              <a:t>straight to Lustre PFS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5488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Calibri"/>
              </a:rPr>
              <a:t>On the workloads we target the cache measured 0 cache hits — every byte came from Lustre. Lustre streams ~2 GB/s sequentially, but sparse-random 4 KB page-faults crawl at ~3–4 MB/s — which is why the access pattern decides the win.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WHAT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B1F24"/>
                </a:solidFill>
                <a:latin typeface="Calibri"/>
              </a:rPr>
              <a:t>Two contributions + one supporting mechanism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3383280" cy="31089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240280"/>
            <a:ext cx="1554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3464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1F24"/>
                </a:solidFill>
                <a:latin typeface="Calibri"/>
              </a:rPr>
              <a:t>Transparent mmap cache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66160"/>
            <a:ext cx="2971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B1F24"/>
                </a:solidFill>
                <a:latin typeface="Calibri"/>
              </a:rPr>
              <a:t>Intercept mmap; on a warm hit hand back a direct map of the cached copy on local storage — deterministic, no network round-trip.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383280" cy="31089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240280"/>
            <a:ext cx="1554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83464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1F24"/>
                </a:solidFill>
                <a:latin typeface="Calibri"/>
              </a:rPr>
              <a:t>Access-aware placement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566160"/>
            <a:ext cx="2971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B1F24"/>
                </a:solidFill>
                <a:latin typeface="Calibri"/>
              </a:rPr>
              <a:t>Route each file's cached copy to the node that reads it. Removes cross-node misses; partitioned access stores one copy, not 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2011680"/>
            <a:ext cx="3383280" cy="31089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19" y="2240280"/>
            <a:ext cx="1737360" cy="411480"/>
          </a:xfrm>
          <a:prstGeom prst="round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Supporting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283464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1F24"/>
                </a:solidFill>
                <a:latin typeface="Calibri"/>
              </a:rPr>
              <a:t>Sidecar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3566160"/>
            <a:ext cx="2971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B1F24"/>
                </a:solidFill>
                <a:latin typeface="Calibri"/>
              </a:rPr>
              <a:t>A tiny .meta per file lets a restarted cache rebuild its state in seconds — the cache survives a restart.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WHAT WE DO — 1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B1F24"/>
                </a:solidFill>
                <a:latin typeface="Calibri"/>
              </a:rPr>
              <a:t>Transparent mmap cache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B1F24"/>
                </a:solidFill>
                <a:latin typeface="Calibri"/>
              </a:rPr>
              <a:t>On a warm hit the client recomputes the cached path (same hash as the server), checks it's complete, and maps the local file — kernel faults from local storage (DRAM/NVMe), no network round-trip.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2240280"/>
            <a:ext cx="2651760" cy="6400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38100" rIns="38100"/>
          <a:lstStyle/>
          <a:p>
            <a:pPr algn="ctr"/>
            <a:r>
              <a:rPr sz="1300" b="1">
                <a:solidFill>
                  <a:srgbClr val="1B1F24"/>
                </a:solidFill>
                <a:latin typeface="Calibri"/>
              </a:rPr>
              <a:t>app calls mmap(file)</a:t>
            </a:r>
          </a:p>
        </p:txBody>
      </p:sp>
      <p:sp>
        <p:nvSpPr>
          <p:cNvPr id="6" name="Down Arrow 5"/>
          <p:cNvSpPr/>
          <p:nvPr/>
        </p:nvSpPr>
        <p:spPr>
          <a:xfrm>
            <a:off x="5989320" y="2926080"/>
            <a:ext cx="219456" cy="365760"/>
          </a:xfrm>
          <a:prstGeom prst="downArrow">
            <a:avLst/>
          </a:prstGeom>
          <a:solidFill>
            <a:srgbClr val="B0B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91840" y="3383280"/>
            <a:ext cx="5577840" cy="86868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38100" rIns="38100"/>
          <a:lstStyle/>
          <a:p>
            <a:pPr algn="ctr"/>
            <a:r>
              <a:rPr sz="1200" b="1">
                <a:solidFill>
                  <a:srgbClr val="1B1F24"/>
                </a:solidFill>
                <a:latin typeface="Calibri"/>
              </a:rPr>
              <a:t>client resolver  (no network)</a:t>
            </a:r>
          </a:p>
          <a:p>
            <a:pPr algn="ctr"/>
            <a:r>
              <a:rPr sz="1200" b="1">
                <a:solidFill>
                  <a:srgbClr val="1B1F24"/>
                </a:solidFill>
                <a:latin typeface="Calibri"/>
              </a:rPr>
              <a:t>recompute cached path · same hash as server · check size complete</a:t>
            </a:r>
          </a:p>
        </p:txBody>
      </p:sp>
      <p:sp>
        <p:nvSpPr>
          <p:cNvPr id="8" name="Down Arrow 7"/>
          <p:cNvSpPr/>
          <p:nvPr/>
        </p:nvSpPr>
        <p:spPr>
          <a:xfrm>
            <a:off x="4572000" y="4343400"/>
            <a:ext cx="219456" cy="320040"/>
          </a:xfrm>
          <a:prstGeom prst="down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wn Arrow 8"/>
          <p:cNvSpPr/>
          <p:nvPr/>
        </p:nvSpPr>
        <p:spPr>
          <a:xfrm>
            <a:off x="7589520" y="4343400"/>
            <a:ext cx="219456" cy="320040"/>
          </a:xfrm>
          <a:prstGeom prst="downArrow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11680" y="4754880"/>
            <a:ext cx="3657600" cy="10515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38100" rIns="38100"/>
          <a:lstStyle/>
          <a:p>
            <a:pPr algn="ctr"/>
            <a:r>
              <a:rPr sz="1200" b="1">
                <a:solidFill>
                  <a:srgbClr val="15803D"/>
                </a:solidFill>
                <a:latin typeface="Calibri"/>
              </a:rPr>
              <a:t>WARM HIT</a:t>
            </a:r>
          </a:p>
          <a:p>
            <a:pPr algn="ctr"/>
            <a:r>
              <a:rPr sz="1200" b="1">
                <a:solidFill>
                  <a:srgbClr val="15803D"/>
                </a:solidFill>
                <a:latin typeface="Calibri"/>
              </a:rPr>
              <a:t>mmap the local cached file → kernel faults from the local tier (DRAM/NVMe)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4754880"/>
            <a:ext cx="3657600" cy="10515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38100" rIns="38100"/>
          <a:lstStyle/>
          <a:p>
            <a:pPr algn="ctr"/>
            <a:r>
              <a:rPr sz="1200" b="1">
                <a:solidFill>
                  <a:srgbClr val="B45309"/>
                </a:solidFill>
                <a:latin typeface="Calibri"/>
              </a:rPr>
              <a:t>COLD MISS</a:t>
            </a:r>
          </a:p>
          <a:p>
            <a:pPr algn="ctr"/>
            <a:r>
              <a:rPr sz="1200" b="1">
                <a:solidFill>
                  <a:srgbClr val="B45309"/>
                </a:solidFill>
                <a:latin typeface="Calibri"/>
              </a:rPr>
              <a:t>native PFS mmap (never slower than baseline) → server promotes in background → next mmap = warm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Calibri"/>
              </a:rPr>
              <a:t>The warm-hit path has no RPC: the client finds the cached file by computing its path, then maps it directly.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WHAT WE DO — 1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B1F24"/>
                </a:solidFill>
                <a:latin typeface="Calibri"/>
              </a:rPr>
              <a:t>Why map a local file instead of fetching over the network?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B1F24"/>
                </a:solidFill>
                <a:latin typeface="Calibri"/>
              </a:rPr>
              <a:t>Our first design fetched data over Mercury RPC at mmap time — the slowest option. So the read path now touches no network at all.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2011680"/>
          <a:ext cx="987552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Calibri"/>
              </a:rPr>
              <a:t>Single-stream bandwidth (GB/s). RPC ≈0.9 and Lustre ≈2.0 are from design notes; the local-tier bar is an estimate showing it is faster than Lustre. The point is the ordering — the old RPC fetch was slower than Lustre itself, so we dropped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WHAT WE DO — 2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B1F24"/>
                </a:solidFill>
                <a:latin typeface="Calibri"/>
              </a:rPr>
              <a:t>Access-aware placement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B1F24"/>
                </a:solidFill>
                <a:latin typeface="Calibri"/>
              </a:rPr>
              <a:t>A warm hit needs the file on the same node as the rank reading it. Default hashing scatters a node's files across the cluster, so it misses ~half its own data. We route each cached copy to its own node.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50292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38100" rIns="38100"/>
          <a:lstStyle/>
          <a:p>
            <a:pPr algn="ctr"/>
            <a:r>
              <a:rPr sz="1300" b="1">
                <a:solidFill>
                  <a:srgbClr val="1B1F24"/>
                </a:solidFill>
                <a:latin typeface="Calibri"/>
              </a:rPr>
              <a:t>Default hash — node 0's 40 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971800"/>
            <a:ext cx="2194560" cy="64008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38100" r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18 on this node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2971800"/>
            <a:ext cx="2286000" cy="640080"/>
          </a:xfrm>
          <a:prstGeom prst="roundRect">
            <a:avLst/>
          </a:prstGeom>
          <a:solidFill>
            <a:srgbClr val="D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38100" r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22 scattered 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49039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DC2226"/>
                </a:solidFill>
                <a:latin typeface="Calibri"/>
              </a:rPr>
              <a:t>→ 22 fall back to Lustre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286000"/>
            <a:ext cx="50292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38100" rIns="38100"/>
          <a:lstStyle/>
          <a:p>
            <a:pPr algn="ctr"/>
            <a:r>
              <a:rPr sz="1300" b="1">
                <a:solidFill>
                  <a:srgbClr val="1B1F24"/>
                </a:solidFill>
                <a:latin typeface="Calibri"/>
              </a:rPr>
              <a:t>Node-local — node 0's 40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971800"/>
            <a:ext cx="4480560" cy="64008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38100" r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all 40 on this node · 0 remote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749039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5803D"/>
                </a:solidFill>
                <a:latin typeface="Calibri"/>
              </a:rPr>
              <a:t>→ every read is a warm hit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805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Calibri"/>
              </a:rPr>
              <a:t>Same data, two placements. Node-local routing turns 22 cross-node misses into 0 (measured: Megatron, N=2).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WHAT WE DO — 2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B1F24"/>
                </a:solidFill>
                <a:latin typeface="Calibri"/>
              </a:rPr>
              <a:t>Partitioned access stores the corpus once, not N times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828800"/>
          <a:ext cx="493776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150876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1F24"/>
                </a:solidFill>
                <a:latin typeface="Calibri"/>
              </a:rPr>
              <a:t>Cross-node misses per node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0" y="1828800"/>
          <a:ext cx="4937760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50876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1F24"/>
                </a:solidFill>
                <a:latin typeface="Calibri"/>
              </a:rPr>
              <a:t>Copies of the corpus stored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349240"/>
            <a:ext cx="10515600" cy="8229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38100" rIns="38100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  <a:r>
              <a:rPr sz="1300" b="0">
                <a:solidFill>
                  <a:srgbClr val="1B1F24"/>
                </a:solidFill>
                <a:latin typeface="Calibri"/>
              </a:rPr>
              <a:t>Both get full local hits (0 misses). </a:t>
            </a:r>
            <a:r>
              <a:rPr sz="1300" b="1">
                <a:solidFill>
                  <a:srgbClr val="1B1F24"/>
                </a:solidFill>
                <a:latin typeface="Calibri"/>
              </a:rPr>
              <a:t>Partitioned placement gives the same speed at half the disk</a:t>
            </a:r>
            <a:r>
              <a:rPr sz="1300" b="0">
                <a:solidFill>
                  <a:srgbClr val="1B1F24"/>
                </a:solidFill>
                <a:latin typeface="Calibri"/>
              </a:rPr>
              <a:t> — at 16 nodes, the difference between 1 copy of the dataset and 16.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WHAT WE DO — 3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B1F24"/>
                </a:solidFill>
                <a:latin typeface="Calibri"/>
              </a:rPr>
              <a:t>Sidecar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B1F24"/>
                </a:solidFill>
                <a:latin typeface="Calibri"/>
              </a:rPr>
              <a:t>Each cached file gets a tiny .meta sidecar. On restart the cache rebuilds its state from those sidecars in seconds — it survives the restart instead of re-fetching from the filesystem.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651760" cy="7315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38100" rIns="38100"/>
          <a:lstStyle/>
          <a:p>
            <a:pPr algn="ctr"/>
            <a:r>
              <a:rPr sz="1200" b="0">
                <a:solidFill>
                  <a:srgbClr val="1B1F24"/>
                </a:solidFill>
                <a:latin typeface="Calibri"/>
              </a:rPr>
              <a:t>promote file →</a:t>
            </a:r>
          </a:p>
          <a:p>
            <a:pPr algn="ctr"/>
            <a:r>
              <a:rPr sz="1200" b="0">
                <a:solidFill>
                  <a:srgbClr val="1B1F24"/>
                </a:solidFill>
                <a:latin typeface="Calibri"/>
              </a:rPr>
              <a:t>write .meta sidecar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520440" y="2514600"/>
            <a:ext cx="548640" cy="219456"/>
          </a:xfrm>
          <a:prstGeom prst="rightArrow">
            <a:avLst/>
          </a:prstGeom>
          <a:solidFill>
            <a:srgbClr val="B0B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6240" y="2286000"/>
            <a:ext cx="2103120" cy="7315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38100" rIns="38100"/>
          <a:lstStyle/>
          <a:p>
            <a:pPr algn="ctr"/>
            <a:r>
              <a:rPr sz="1300" b="1">
                <a:solidFill>
                  <a:srgbClr val="B45309"/>
                </a:solidFill>
                <a:latin typeface="Calibri"/>
              </a:rPr>
              <a:t>server restart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446520" y="2514600"/>
            <a:ext cx="548640" cy="219456"/>
          </a:xfrm>
          <a:prstGeom prst="rightArrow">
            <a:avLst/>
          </a:prstGeom>
          <a:solidFill>
            <a:srgbClr val="B0B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0" y="2286000"/>
            <a:ext cx="2743200" cy="7315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38100" rIns="38100"/>
          <a:lstStyle/>
          <a:p>
            <a:pPr algn="ctr"/>
            <a:r>
              <a:rPr sz="1200" b="0">
                <a:solidFill>
                  <a:srgbClr val="1B1F24"/>
                </a:solidFill>
                <a:latin typeface="Calibri"/>
              </a:rPr>
              <a:t>scan tiers, rebuild</a:t>
            </a:r>
          </a:p>
          <a:p>
            <a:pPr algn="ctr"/>
            <a:r>
              <a:rPr sz="1200" b="0">
                <a:solidFill>
                  <a:srgbClr val="1B1F24"/>
                </a:solidFill>
                <a:latin typeface="Calibri"/>
              </a:rPr>
              <a:t>cache map (~5 s)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012680" y="2514600"/>
            <a:ext cx="502920" cy="219456"/>
          </a:xfrm>
          <a:prstGeom prst="right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52760" y="2286000"/>
            <a:ext cx="1005840" cy="7315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38100" rIns="38100"/>
          <a:lstStyle/>
          <a:p>
            <a:pPr algn="ctr"/>
            <a:r>
              <a:rPr sz="1200" b="1">
                <a:solidFill>
                  <a:srgbClr val="15803D"/>
                </a:solidFill>
                <a:latin typeface="Calibri"/>
              </a:rPr>
              <a:t>warm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1828800" y="3383280"/>
          <a:ext cx="822960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Calibri"/>
              </a:rPr>
              <a:t>Metadata-restore-only sweep: restore time is independent of object count (~1 KB each). Flat → scales to 1000s of objects. (A full DINOv2 recovery, which re-checks data files, takes ~8 s — a heavier path.)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HOW MUCH FASTER — 1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B1F24"/>
                </a:solidFill>
                <a:latin typeface="Calibri"/>
              </a:rPr>
              <a:t>Dense-sequential: a modest, stable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B1F24"/>
                </a:solidFill>
                <a:latin typeface="Calibri"/>
              </a:rPr>
              <a:t>Warm-hit speedup of local-cache mmap vs native PFS mmap. Magnitude is reported per regime; every number passed a bit-for-bit checksum-equality check.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2011680"/>
          <a:ext cx="987552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212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Calibri"/>
              </a:rPr>
              <a:t>Bars show the high end of each range (Megatron 1.2–1.6×, DINOv2 1.6–1.95×). A modest but stable warm-hit win, flat across N=1–16, because Frontier's Lustre is already fast at streaming. The sparse-random GNN workload is a different story — next.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HOW MUCH FASTER — 2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B1F24"/>
                </a:solidFill>
                <a:latin typeface="Calibri"/>
              </a:rPr>
              <a:t>GNN sparse-random: the win depends on the baseline regime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645920"/>
          <a:ext cx="987552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" y="5029200"/>
            <a:ext cx="10515600" cy="11430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1B1F24"/>
                </a:solidFill>
                <a:latin typeface="Calibri"/>
              </a:rPr>
              <a:t>2026-06-14 regime-pinned restatement (replaces the earlier 18–33×, which was regime-contaminated). </a:t>
            </a:r>
            <a:r>
              <a:rPr sz="1250" b="0">
                <a:solidFill>
                  <a:srgbClr val="1B1F24"/>
                </a:solidFill>
                <a:latin typeface="Calibri"/>
              </a:rPr>
              <a:t>The claim is the NVMe-bound 82.7 s: ~6× faster than the most favorable Lustre native (510 s), and 22–30× faster than cold Lustre (1870–2457 s). </a:t>
            </a:r>
            <a:r>
              <a:rPr sz="1250" b="0">
                <a:solidFill>
                  <a:srgbClr val="5F6368"/>
                </a:solidFill>
                <a:latin typeface="Calibri"/>
              </a:rPr>
              <a:t>Source gnn_regime_pinned/, checksum-gated.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HOW MUCH FASTER — 3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B1F24"/>
                </a:solidFill>
                <a:latin typeface="Calibri"/>
              </a:rPr>
              <a:t>Warm stays flat as the job scales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645920"/>
          <a:ext cx="105156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B1F24"/>
                </a:solidFill>
                <a:latin typeface="Calibri"/>
              </a:rPr>
              <a:t>Warm flat 175–178 s across 32/64/128 nodes; speedup 14.7× / 5.3× / 6.0× varies only with the native baseline's Lustre contention.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440680"/>
            <a:ext cx="10515600" cy="7772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1B1F24"/>
                </a:solidFill>
                <a:latin typeface="Calibri"/>
              </a:rPr>
              <a:t>The warm path is multi-tier, not NVMe-only: </a:t>
            </a:r>
            <a:r>
              <a:rPr sz="1250" b="0">
                <a:solidFill>
                  <a:srgbClr val="1B1F24"/>
                </a:solidFill>
                <a:latin typeface="Calibri"/>
              </a:rPr>
              <a:t>a controlled run served 48 warm hits from the DRAM (/tmp tmpfs) tier, bit-identical and at parity with NVMe.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HONEST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B1F24"/>
                </a:solidFill>
                <a:latin typeface="Calibri"/>
              </a:rPr>
              <a:t>What the numbers do and don't claim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38100" rIns="38100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  <a:r>
              <a:rPr sz="1400" b="1">
                <a:solidFill>
                  <a:srgbClr val="1B1F24"/>
                </a:solidFill>
                <a:latin typeface="Calibri"/>
              </a:rPr>
              <a:t>This accelerates data loading, not GPU compute</a:t>
            </a:r>
            <a:r>
              <a:rPr sz="1400" b="0">
                <a:solidFill>
                  <a:srgbClr val="1B1F24"/>
                </a:solidFill>
                <a:latin typeface="Calibri"/>
              </a:rPr>
              <a:t> — we speed up the I/O the loader does.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80360"/>
            <a:ext cx="10698480" cy="9144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38100" rIns="38100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  <a:r>
              <a:rPr sz="1400" b="1">
                <a:solidFill>
                  <a:srgbClr val="1B1F24"/>
                </a:solidFill>
                <a:latin typeface="Calibri"/>
              </a:rPr>
              <a:t>Warm-hit runs use a pre-staged cache</a:t>
            </a:r>
            <a:r>
              <a:rPr sz="1400" b="0">
                <a:solidFill>
                  <a:srgbClr val="1B1F24"/>
                </a:solidFill>
                <a:latin typeface="Calibri"/>
              </a:rPr>
              <a:t> — we also report the amortized view including that staging cost (break-even 1–4 epochs).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698480" cy="9144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38100" rIns="38100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  <a:r>
              <a:rPr sz="1400" b="1">
                <a:solidFill>
                  <a:srgbClr val="1B1F24"/>
                </a:solidFill>
                <a:latin typeface="Calibri"/>
              </a:rPr>
              <a:t>Magnitude is reported per regime</a:t>
            </a:r>
            <a:r>
              <a:rPr sz="1400" b="0">
                <a:solidFill>
                  <a:srgbClr val="1B1F24"/>
                </a:solidFill>
                <a:latin typeface="Calibri"/>
              </a:rPr>
              <a:t> — GNN ~6× vs favorable Lustre / 22–30× vs cold; dense-sequential ~1.2–1.95×.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79"/>
            <a:ext cx="10698480" cy="9144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38100" rIns="38100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  <a:r>
              <a:rPr sz="1400" b="1">
                <a:solidFill>
                  <a:srgbClr val="1B1F24"/>
                </a:solidFill>
                <a:latin typeface="Calibri"/>
              </a:rPr>
              <a:t>Tier-general, served from NVMe here</a:t>
            </a:r>
            <a:r>
              <a:rPr sz="1400" b="0">
                <a:solidFill>
                  <a:srgbClr val="1B1F24"/>
                </a:solidFill>
                <a:latin typeface="Calibri"/>
              </a:rPr>
              <a:t> — also warm-hits DRAM/tmpfs; working sets (640 GiB–902 GB/node) exceed node RAM, so they land on NVMe, keeping the baseline from cheating via the page cache.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STATUS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B1F24"/>
                </a:solidFill>
                <a:latin typeface="Calibri"/>
              </a:rPr>
              <a:t>Where it stands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2651760"/>
                <a:gridCol w="4297680"/>
              </a:tblGrid>
              <a:tr h="39188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6200" marT="38100" marB="381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76200" marT="38100" marB="381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76200" marT="38100" marB="38100">
                    <a:solidFill>
                      <a:srgbClr val="2563EB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Transparent mmap cache path</a:t>
                      </a: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3 workload classes, N=1–16; GNN regime-pinned (~6× / 22–30×)</a:t>
                      </a: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Multi-tier warm hit (DRAM+NVMe)</a:t>
                      </a:r>
                    </a:p>
                  </a:txBody>
                  <a:tcPr marL="76200" marT="38100" marB="381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76200" marT="38100" marB="381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48 tmpfs hits, bit-identical, parity with NVMe</a:t>
                      </a:r>
                    </a:p>
                  </a:txBody>
                  <a:tcPr marL="76200" marT="38100" marB="38100">
                    <a:solidFill>
                      <a:srgbClr val="F6F8FA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Warm-flat at scale (Megatron)</a:t>
                      </a: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32–128N (256N pending)</a:t>
                      </a: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warm flat 175–178 s; native swings with contention</a:t>
                      </a: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Access-aware placement</a:t>
                      </a:r>
                    </a:p>
                  </a:txBody>
                  <a:tcPr marL="76200" marT="38100" marB="381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76200" marT="38100" marB="381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0 cross-node misses; partitioned = 1× storage</a:t>
                      </a:r>
                    </a:p>
                  </a:txBody>
                  <a:tcPr marL="76200" marT="38100" marB="38100">
                    <a:solidFill>
                      <a:srgbClr val="F6F8FA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Sidecar recovery</a:t>
                      </a: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flat ~5 s restore to ~1000 objects</a:t>
                      </a: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Cross-job sharing</a:t>
                      </a:r>
                    </a:p>
                  </a:txBody>
                  <a:tcPr marL="76200" marT="38100" marB="381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Future work</a:t>
                      </a:r>
                    </a:p>
                  </a:txBody>
                  <a:tcPr marL="76200" marT="38100" marB="381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preliminary; known correctness defect; not a claim</a:t>
                      </a:r>
                    </a:p>
                  </a:txBody>
                  <a:tcPr marL="76200" marT="38100" marB="3810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57200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1F24"/>
                </a:solidFill>
                <a:latin typeface="Calibri"/>
              </a:rPr>
              <a:t>Next: </a:t>
            </a:r>
            <a:r>
              <a:rPr sz="1300" b="0">
                <a:solidFill>
                  <a:srgbClr val="1B1F24"/>
                </a:solidFill>
                <a:latin typeface="Calibri"/>
              </a:rPr>
              <a:t>an organic-promotion run (no manual pre-stage) + a manual-staging baseline; a contended-filesystem scenario where the win grows; a hash-vs-node-local timing number; and one end-to-end training number tying loader speedup to job wall-clock.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